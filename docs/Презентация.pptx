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8FD3C4"/>
                </a:solidFill>
                <a:latin typeface="Arial"/>
              </a:rPr>
              <a:t>ЛАБОРАТОРНАЯ РАБОТА · ЭТАПЫ 4–5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Университетская система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C9D2E6"/>
                </a:solidFill>
                <a:latin typeface="Arial"/>
              </a:rPr>
              <a:t>Информационная система учёта учебного процесса: расписание, посещаемость, задания, оценки, аналитика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C9D2E6"/>
                </a:solidFill>
                <a:latin typeface="Arial"/>
              </a:rPr>
              <a:t>Авторы: [Фамилия И. О.], [Фамилия И. О.], группа [номер]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9D2E6"/>
                </a:solidFill>
                <a:latin typeface="Arial"/>
              </a:rPr>
              <a:t>Руководитель: [Фамилия И. О.]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F6B5C"/>
                </a:solidFill>
                <a:latin typeface="Arial"/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6213A"/>
                </a:solidFill>
                <a:latin typeface="Arial"/>
              </a:rPr>
              <a:t>Описание проблемы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4A5570"/>
                </a:solidFill>
                <a:latin typeface="Arial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73152" cy="219456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6213A"/>
                </a:solidFill>
                <a:latin typeface="Arial"/>
              </a:rPr>
              <a:t>Бумага и 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32004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A5570"/>
                </a:solidFill>
                <a:latin typeface="Arial"/>
              </a:rPr>
              <a:t>Журналы посещаемости и оценок ведутся вручную, в разных файлах у разных преподавателей.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73152" cy="219456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6213A"/>
                </a:solidFill>
                <a:latin typeface="Arial"/>
              </a:rPr>
              <a:t>Нет общей картины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40280"/>
            <a:ext cx="32004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A5570"/>
                </a:solidFill>
                <a:latin typeface="Arial"/>
              </a:rPr>
              <a:t>Деканат не видит должников и качество знаний, пока не соберёт таблицы со всех кафедр.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73152" cy="219456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6213A"/>
                </a:solidFill>
                <a:latin typeface="Arial"/>
              </a:rPr>
              <a:t>Нет разграничения доступа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240280"/>
            <a:ext cx="32004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A5570"/>
                </a:solidFill>
                <a:latin typeface="Arial"/>
              </a:rPr>
              <a:t>Таблицы пересылаются целиком: студент может увидеть чужие оценки, правки не отслеживаются.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6213A"/>
                </a:solidFill>
                <a:latin typeface="Arial"/>
              </a:rPr>
              <a:t>Итог: данные дублируются и теряются, отчёты собираются днями, ошибки и исправления невозможно отследить.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F6B5C"/>
                </a:solidFill>
                <a:latin typeface="Arial"/>
              </a:rPr>
              <a:t>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6213A"/>
                </a:solidFill>
                <a:latin typeface="Arial"/>
              </a:rPr>
              <a:t>Предложенное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4A5570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A5570"/>
                </a:solidFill>
                <a:latin typeface="Arial"/>
              </a:rPr>
              <a:t>Единая веб-система с личным кабинетом для каждой роли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73152" cy="310896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6213A"/>
                </a:solidFill>
                <a:latin typeface="Arial"/>
              </a:rPr>
              <a:t>Студент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233172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A5570"/>
                </a:solidFill>
                <a:latin typeface="Arial"/>
              </a:rPr>
              <a:t>Расписание группы, оценки и средний балл, посещаемость, профиль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19456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2194560"/>
            <a:ext cx="73152" cy="310896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3317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6213A"/>
                </a:solidFill>
                <a:latin typeface="Arial"/>
              </a:rPr>
              <a:t>Преподаватель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88920"/>
            <a:ext cx="233172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A5570"/>
                </a:solidFill>
                <a:latin typeface="Arial"/>
              </a:rPr>
              <a:t>Занятия, посещаемость, задания и оценки — только по своим дисциплинам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19456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194560"/>
            <a:ext cx="73152" cy="310896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3317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6213A"/>
                </a:solidFill>
                <a:latin typeface="Arial"/>
              </a:rPr>
              <a:t>Декан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788920"/>
            <a:ext cx="233172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A5570"/>
                </a:solidFill>
                <a:latin typeface="Arial"/>
              </a:rPr>
              <a:t>Назначение дисциплин группам, отчёты: должники, качество знаний, рейтинг, статистика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2194560"/>
            <a:ext cx="24231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2194560"/>
            <a:ext cx="73152" cy="310896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3317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6213A"/>
                </a:solidFill>
                <a:latin typeface="Arial"/>
              </a:rPr>
              <a:t>Администратор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788920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A5570"/>
                </a:solidFill>
                <a:latin typeface="Arial"/>
              </a:rPr>
              <a:t>Пользователи и роли, создание аккаунтов, журнал аудита, резервные копии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F6B5C"/>
                </a:solidFill>
                <a:latin typeface="Arial"/>
              </a:rPr>
              <a:t>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6213A"/>
                </a:solidFill>
                <a:latin typeface="Arial"/>
              </a:rPr>
              <a:t>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4A5570"/>
                </a:solidFill>
                <a:latin typeface="Arial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73152" cy="201168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6213A"/>
                </a:solidFill>
                <a:latin typeface="Arial"/>
              </a:rPr>
              <a:t>Браузер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A5570"/>
                </a:solidFill>
                <a:latin typeface="Arial"/>
              </a:rPr>
              <a:t>index.html
HTML + JS + Tailwind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4680" y="2697480"/>
            <a:ext cx="228600" cy="274320"/>
          </a:xfrm>
          <a:prstGeom prst="rightArrow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182880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828800"/>
            <a:ext cx="73152" cy="201168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6213A"/>
                </a:solidFill>
                <a:latin typeface="Arial"/>
              </a:rP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231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A5570"/>
                </a:solidFill>
                <a:latin typeface="Arial"/>
              </a:rPr>
              <a:t>API → сервисы →
репозитории, JWT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35040" y="2697480"/>
            <a:ext cx="228600" cy="274320"/>
          </a:xfrm>
          <a:prstGeom prst="rightArrow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59" y="182880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1828800"/>
            <a:ext cx="73152" cy="201168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6213A"/>
                </a:solidFill>
                <a:latin typeface="Arial"/>
              </a:rPr>
              <a:t>PostgreSQL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24231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A5570"/>
                </a:solidFill>
                <a:latin typeface="Arial"/>
              </a:rPr>
              <a:t>миграции yoyo,
триггеры аудита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915400" y="2697480"/>
            <a:ext cx="228600" cy="274320"/>
          </a:xfrm>
          <a:prstGeom prst="rightArrow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89719" y="182880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19" y="1828800"/>
            <a:ext cx="73152" cy="201168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19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6213A"/>
                </a:solidFill>
                <a:latin typeface="Arial"/>
              </a:rPr>
              <a:t>Docker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24231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A5570"/>
                </a:solidFill>
                <a:latin typeface="Arial"/>
              </a:rPr>
              <a:t>docker compose up —
всё одной командой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06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213A"/>
                </a:solidFill>
                <a:latin typeface="Arial"/>
              </a:rPr>
              <a:t>•  REST API: 8 модулей, документация Swagger на /docs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213A"/>
                </a:solidFill>
                <a:latin typeface="Arial"/>
              </a:rPr>
              <a:t>•  Права проверяются на сервере: роль + принадлежность дисциплины + «только свои данные»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213A"/>
                </a:solidFill>
                <a:latin typeface="Arial"/>
              </a:rPr>
              <a:t>•  Каждое изменение пишется в журнал аудита: кто, когда, что изменил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F6B5C"/>
                </a:solidFill>
                <a:latin typeface="Arial"/>
              </a:rPr>
              <a:t>ТЕСТИРОВАНИЕ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6213A"/>
                </a:solidFill>
                <a:latin typeface="Arial"/>
              </a:rPr>
              <a:t>Ролевая модель: что нашли и исправили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4A5570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6213A"/>
                </a:solidFill>
                <a:latin typeface="Arial"/>
              </a:rPr>
              <a:t>•  Интерфейс показывал меню чужой роли: админ видел кабинет студента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6213A"/>
                </a:solidFill>
                <a:latin typeface="Arial"/>
              </a:rPr>
              <a:t>•  При регистрации можно было стать администратором (role_id от клиента)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6213A"/>
                </a:solidFill>
                <a:latin typeface="Arial"/>
              </a:rPr>
              <a:t>•  Любой мог зарегистрироваться преподавателем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6213A"/>
                </a:solidFill>
                <a:latin typeface="Arial"/>
              </a:rPr>
              <a:t>•  Преподаватель ставил оценки по чужим дисциплинам, студент удалял задания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6213A"/>
                </a:solidFill>
                <a:latin typeface="Arial"/>
              </a:rPr>
              <a:t>•  Хеши паролей попадали в журнал аудита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55448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0" y="1554480"/>
            <a:ext cx="73152" cy="393192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6916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6213A"/>
                </a:solidFill>
                <a:latin typeface="Arial"/>
              </a:rPr>
              <a:t>Как исправили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1488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A5570"/>
                </a:solidFill>
                <a:latin typeface="Arial"/>
              </a:rPr>
              <a:t>Роль назначает и возвращает сервер. Регистрация преподавателей — только администратор. Проверка «дисциплина закреплена за преподавателем» и «студент видит только свои данные». Пароль исключён из журнала аудита миграцией.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F6B5C"/>
                </a:solidFill>
                <a:latin typeface="Arial"/>
              </a:rPr>
              <a:t>ДЕМОНСТРАЦИЯ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6213A"/>
                </a:solidFill>
                <a:latin typeface="Arial"/>
              </a:rPr>
              <a:t>Демонстрация: студент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4A5570"/>
                </a:solidFill>
                <a:latin typeface="Arial"/>
              </a:rPr>
              <a:t>6</a:t>
            </a:r>
          </a:p>
        </p:txBody>
      </p:sp>
      <p:pic>
        <p:nvPicPr>
          <p:cNvPr id="5" name="Picture 4" descr="03_student_schedu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94960" cy="3371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97205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4A5570"/>
                </a:solidFill>
                <a:latin typeface="Arial"/>
              </a:rPr>
              <a:t>Расписание группы</a:t>
            </a:r>
          </a:p>
        </p:txBody>
      </p:sp>
      <p:pic>
        <p:nvPicPr>
          <p:cNvPr id="7" name="Picture 6" descr="04_student_grad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394960" cy="3371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497205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4A5570"/>
                </a:solidFill>
                <a:latin typeface="Arial"/>
              </a:rPr>
              <a:t>Успеваемость и средний балл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F6B5C"/>
                </a:solidFill>
                <a:latin typeface="Arial"/>
              </a:rPr>
              <a:t>ДЕМОНСТРАЦИЯ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6213A"/>
                </a:solidFill>
                <a:latin typeface="Arial"/>
              </a:rPr>
              <a:t>Демонстрация: преподаватель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4A5570"/>
                </a:solidFill>
                <a:latin typeface="Arial"/>
              </a:rPr>
              <a:t>7</a:t>
            </a:r>
          </a:p>
        </p:txBody>
      </p:sp>
      <p:pic>
        <p:nvPicPr>
          <p:cNvPr id="5" name="Picture 4" descr="08_teacher_attend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94960" cy="3371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97205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4A5570"/>
                </a:solidFill>
                <a:latin typeface="Arial"/>
              </a:rPr>
              <a:t>Отметка посещаемости</a:t>
            </a:r>
          </a:p>
        </p:txBody>
      </p:sp>
      <p:pic>
        <p:nvPicPr>
          <p:cNvPr id="7" name="Picture 6" descr="10_teacher_grad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394960" cy="3371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497205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4A5570"/>
                </a:solidFill>
                <a:latin typeface="Arial"/>
              </a:rPr>
              <a:t>Выставление оценки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F6B5C"/>
                </a:solidFill>
                <a:latin typeface="Arial"/>
              </a:rPr>
              <a:t>ДЕМОНСТРАЦИЯ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6213A"/>
                </a:solidFill>
                <a:latin typeface="Arial"/>
              </a:rPr>
              <a:t>Демонстрация: декан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4A5570"/>
                </a:solidFill>
                <a:latin typeface="Arial"/>
              </a:rPr>
              <a:t>8</a:t>
            </a:r>
          </a:p>
        </p:txBody>
      </p:sp>
      <p:pic>
        <p:nvPicPr>
          <p:cNvPr id="5" name="Picture 4" descr="11_dean_analyt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94960" cy="3371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97205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4A5570"/>
                </a:solidFill>
                <a:latin typeface="Arial"/>
              </a:rPr>
              <a:t>Аналитика: должники, качество, рейтинг</a:t>
            </a:r>
          </a:p>
        </p:txBody>
      </p:sp>
      <p:pic>
        <p:nvPicPr>
          <p:cNvPr id="7" name="Picture 6" descr="12_dean_cours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394960" cy="3371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497205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4A5570"/>
                </a:solidFill>
                <a:latin typeface="Arial"/>
              </a:rPr>
              <a:t>Назначение дисциплин группам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F6B5C"/>
                </a:solidFill>
                <a:latin typeface="Arial"/>
              </a:rPr>
              <a:t>ДЕМОНСТРАЦИЯ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6213A"/>
                </a:solidFill>
                <a:latin typeface="Arial"/>
              </a:rPr>
              <a:t>Демонстрация: администратор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4A5570"/>
                </a:solidFill>
                <a:latin typeface="Arial"/>
              </a:rPr>
              <a:t>9</a:t>
            </a:r>
          </a:p>
        </p:txBody>
      </p:sp>
      <p:pic>
        <p:nvPicPr>
          <p:cNvPr id="5" name="Picture 4" descr="14_admin_us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94960" cy="3371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97205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4A5570"/>
                </a:solidFill>
                <a:latin typeface="Arial"/>
              </a:rPr>
              <a:t>Пользователи и роли</a:t>
            </a:r>
          </a:p>
        </p:txBody>
      </p:sp>
      <p:pic>
        <p:nvPicPr>
          <p:cNvPr id="7" name="Picture 6" descr="16_admin_log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394960" cy="3371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497205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4A5570"/>
                </a:solidFill>
                <a:latin typeface="Arial"/>
              </a:rPr>
              <a:t>Журнал событий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F6B5C"/>
                </a:solidFill>
                <a:latin typeface="Arial"/>
              </a:rPr>
              <a:t>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6213A"/>
                </a:solidFill>
                <a:latin typeface="Arial"/>
              </a:rPr>
              <a:t>Тестирование и качество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4A5570"/>
                </a:solidFill>
                <a:latin typeface="Arial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6060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0F6B5C"/>
                </a:solidFill>
                <a:latin typeface="Arial"/>
              </a:rPr>
              <a:t>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A5570"/>
                </a:solidFill>
                <a:latin typeface="Arial"/>
              </a:rPr>
              <a:t>тестовых сценариев
(66 автотестов API + 21 ручной)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6060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0F6B5C"/>
                </a:solidFill>
                <a:latin typeface="Arial"/>
              </a:rPr>
              <a:t>100 %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974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A5570"/>
                </a:solidFill>
                <a:latin typeface="Arial"/>
              </a:rPr>
              <a:t>сценариев пройдено
в итоговой версии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6060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0F6B5C"/>
                </a:solidFill>
                <a:latin typeface="Arial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A5570"/>
                </a:solidFill>
                <a:latin typeface="Arial"/>
              </a:rPr>
              <a:t>дефекта найдено
и исправлено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645920"/>
            <a:ext cx="26060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783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0F6B5C"/>
                </a:solidFill>
                <a:latin typeface="Arial"/>
              </a:rPr>
              <a:t>20/20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6974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A5570"/>
                </a:solidFill>
                <a:latin typeface="Arial"/>
              </a:rPr>
              <a:t>требований покрыто
тестами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6213A"/>
                </a:solidFill>
                <a:latin typeface="Arial"/>
              </a:rPr>
              <a:t>•  Автотесты: python3 tests/api_tests.py → «66 из 66 пройдено»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213A"/>
                </a:solidFill>
                <a:latin typeface="Arial"/>
              </a:rPr>
              <a:t>•  Первый прогон нашёл ошибку 500 при создании задания — задание не сохранялось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6213A"/>
                </a:solidFill>
                <a:latin typeface="Arial"/>
              </a:rPr>
              <a:t>•  Оценка по ГОСТ Р ИСО/МЭК 25010: 4,3 из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F6B5C"/>
                </a:solidFill>
                <a:latin typeface="Arial"/>
              </a:rPr>
              <a:t>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6213A"/>
                </a:solidFill>
                <a:latin typeface="Arial"/>
              </a:rPr>
              <a:t>Итоги и развитие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4A5570"/>
                </a:solidFill>
                <a:latin typeface="Arial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949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73152" cy="393192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6213A"/>
                </a:solidFill>
                <a:latin typeface="Arial"/>
              </a:rPr>
              <a:t>Сделано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A5570"/>
                </a:solidFill>
                <a:latin typeface="Arial"/>
              </a:rPr>
              <a:t>• Система для 4 ролей с разграничением доступа
• Развёртывание в Docker одной командой
• План и протокол тестирования, 87 сценариев
• Руководство пользователя
• Журнал аудита и резервное копирование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949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73152" cy="39319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916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6213A"/>
                </a:solidFill>
                <a:latin typeface="Arial"/>
              </a:rPr>
              <a:t>План развития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488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A5570"/>
                </a:solidFill>
                <a:latin typeface="Arial"/>
              </a:rPr>
              <a:t>• Отзыв токена при выходе
• Блокировка учётных записей
• Защита от перебора паролей
• Подтверждение регистрации деканатом
• Сдача работ с файлами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8FD3C4"/>
                </a:solidFill>
                <a:latin typeface="Arial"/>
              </a:rPr>
              <a:t>github.com/Arseniy-Salistiy/Uni-project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